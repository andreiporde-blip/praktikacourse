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7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Light" panose="020F0302020204030204" pitchFamily="34" charset="0"/>
      <p:regular r:id="rId17"/>
      <p:italic r:id="rId18"/>
    </p:embeddedFont>
    <p:embeddedFont>
      <p:font typeface="Inter" panose="020B0604020202020204" charset="0"/>
      <p:regular r:id="rId19"/>
    </p:embeddedFont>
    <p:embeddedFont>
      <p:font typeface="Inter Bold" panose="020B0604020202020204" charset="0"/>
      <p:regular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400" autoAdjust="0"/>
  </p:normalViewPr>
  <p:slideViewPr>
    <p:cSldViewPr snapToGrid="0" snapToObjects="1">
      <p:cViewPr varScale="1">
        <p:scale>
          <a:sx n="136" d="100"/>
          <a:sy n="136" d="100"/>
        </p:scale>
        <p:origin x="169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6272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15674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0529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72031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58704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29321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72035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27815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36085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56623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38793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4304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877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054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jpe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25119" y="1159520"/>
            <a:ext cx="4722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Цифровая грамотность: от регистрации до безопасного использования</a:t>
            </a:r>
            <a:endParaRPr lang="en-US" sz="2750" dirty="0"/>
          </a:p>
        </p:txBody>
      </p:sp>
      <p:sp>
        <p:nvSpPr>
          <p:cNvPr id="6" name="Text 2"/>
          <p:cNvSpPr/>
          <p:nvPr/>
        </p:nvSpPr>
        <p:spPr>
          <a:xfrm>
            <a:off x="3925119" y="3144069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Повышение цифровых компетенций сотрудников ООО «Вахруши-Литобувь»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Студент: Шабалин А.А. | Группа 24П-1 | 2026 г.</a:t>
            </a:r>
            <a:endParaRPr lang="en-US" sz="1100" dirty="0"/>
          </a:p>
        </p:txBody>
      </p:sp>
      <p:pic>
        <p:nvPicPr>
          <p:cNvPr id="7" name="Picture 2" descr="Picture background">
            <a:extLst>
              <a:ext uri="{FF2B5EF4-FFF2-40B4-BE49-F238E27FC236}">
                <a16:creationId xmlns:a16="http://schemas.microsoft.com/office/drawing/2014/main" id="{E49D8BEC-E70B-4073-A5ED-D78B9D6D9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8764" y="-45721"/>
            <a:ext cx="3767764" cy="5329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7491" y="138665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Что такое цифровая грамотность и зачем она нужна?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786974" y="1436935"/>
            <a:ext cx="1416929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Уверенное использование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86975" y="2186359"/>
            <a:ext cx="1175370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 с компьютером, смартфоном и интернетом для рабочих и личных задач.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869155" y="1436935"/>
            <a:ext cx="11754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Экономия времени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2869155" y="1964903"/>
            <a:ext cx="1175445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Получение справок и оформление документов без очередей.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192638" y="1425542"/>
            <a:ext cx="11754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Быстрый обмен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192638" y="1953510"/>
            <a:ext cx="1175445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Оперативная и безопасная связь с коллегами и руководством.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7274892" y="1425542"/>
            <a:ext cx="11754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Удобство финансов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7274892" y="1953510"/>
            <a:ext cx="1175445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Управление личными финансами и получение зарплаты онлайн.</a:t>
            </a:r>
            <a:endParaRPr lang="en-US" sz="1100" dirty="0"/>
          </a:p>
        </p:txBody>
      </p:sp>
      <p:sp>
        <p:nvSpPr>
          <p:cNvPr id="19" name="Половина рамки 18">
            <a:extLst>
              <a:ext uri="{FF2B5EF4-FFF2-40B4-BE49-F238E27FC236}">
                <a16:creationId xmlns:a16="http://schemas.microsoft.com/office/drawing/2014/main" id="{FFA0715A-FF36-4EC5-9DD4-0F357934802B}"/>
              </a:ext>
            </a:extLst>
          </p:cNvPr>
          <p:cNvSpPr/>
          <p:nvPr/>
        </p:nvSpPr>
        <p:spPr>
          <a:xfrm>
            <a:off x="481628" y="1250417"/>
            <a:ext cx="346166" cy="442913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0" name="Половина рамки 19">
            <a:extLst>
              <a:ext uri="{FF2B5EF4-FFF2-40B4-BE49-F238E27FC236}">
                <a16:creationId xmlns:a16="http://schemas.microsoft.com/office/drawing/2014/main" id="{10D194DC-C6B3-4B90-ABDE-CFA36A2B1134}"/>
              </a:ext>
            </a:extLst>
          </p:cNvPr>
          <p:cNvSpPr/>
          <p:nvPr/>
        </p:nvSpPr>
        <p:spPr>
          <a:xfrm>
            <a:off x="2639176" y="1258471"/>
            <a:ext cx="346166" cy="442913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1" name="Половина рамки 20">
            <a:extLst>
              <a:ext uri="{FF2B5EF4-FFF2-40B4-BE49-F238E27FC236}">
                <a16:creationId xmlns:a16="http://schemas.microsoft.com/office/drawing/2014/main" id="{DE8AE029-F8F6-40A1-BE7E-804C42C31404}"/>
              </a:ext>
            </a:extLst>
          </p:cNvPr>
          <p:cNvSpPr/>
          <p:nvPr/>
        </p:nvSpPr>
        <p:spPr>
          <a:xfrm>
            <a:off x="4951410" y="1255132"/>
            <a:ext cx="346166" cy="442913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2" name="Половина рамки 21">
            <a:extLst>
              <a:ext uri="{FF2B5EF4-FFF2-40B4-BE49-F238E27FC236}">
                <a16:creationId xmlns:a16="http://schemas.microsoft.com/office/drawing/2014/main" id="{A825EF49-6EE1-412A-B109-89CF4FAB4B9B}"/>
              </a:ext>
            </a:extLst>
          </p:cNvPr>
          <p:cNvSpPr/>
          <p:nvPr/>
        </p:nvSpPr>
        <p:spPr>
          <a:xfrm>
            <a:off x="7022417" y="1263186"/>
            <a:ext cx="346166" cy="442913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4666BEB5-77E5-419C-B55E-B8AD98D09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794" y="3302665"/>
            <a:ext cx="3135988" cy="1763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25119" y="452512"/>
            <a:ext cx="4722763" cy="1225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Портал «Госуслуги»: возможности для работника</a:t>
            </a:r>
            <a:endParaRPr lang="en-US" sz="2550" dirty="0"/>
          </a:p>
        </p:txBody>
      </p:sp>
      <p:sp>
        <p:nvSpPr>
          <p:cNvPr id="8" name="Text 3"/>
          <p:cNvSpPr/>
          <p:nvPr/>
        </p:nvSpPr>
        <p:spPr>
          <a:xfrm>
            <a:off x="4402336" y="1858342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Справки и выписки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4402336" y="2134716"/>
            <a:ext cx="424554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Заказ 2-НДФЛ и выписок без визита в МФЦ или бухгалтерию.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4402336" y="2576513"/>
            <a:ext cx="1634430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Медицина и пенсия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4402336" y="2852886"/>
            <a:ext cx="424554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Электронные больничные, запись к врачу и проверка пенсионных накоплений.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4402336" y="3495526"/>
            <a:ext cx="1864444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Школьные документы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4402336" y="3771900"/>
            <a:ext cx="424554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Получение документов для детей и электронные рецепты.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4402336" y="4213696"/>
            <a:ext cx="169976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Платежи со скидкой</a:t>
            </a:r>
            <a:endParaRPr lang="en-US" sz="1250" dirty="0"/>
          </a:p>
        </p:txBody>
      </p:sp>
      <p:sp>
        <p:nvSpPr>
          <p:cNvPr id="21" name="Text 13"/>
          <p:cNvSpPr/>
          <p:nvPr/>
        </p:nvSpPr>
        <p:spPr>
          <a:xfrm>
            <a:off x="4402336" y="4490070"/>
            <a:ext cx="424554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Оплата штрафов, налогов и госпошлин со скидкой через портал.</a:t>
            </a:r>
            <a:endParaRPr lang="en-US" sz="1000"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274A2D04-156C-4F79-B0FD-578EEA72F8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52" r="11127"/>
          <a:stretch/>
        </p:blipFill>
        <p:spPr bwMode="auto">
          <a:xfrm>
            <a:off x="-2111230" y="0"/>
            <a:ext cx="5540230" cy="5304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Прямоугольник: багетная рамка 24">
            <a:extLst>
              <a:ext uri="{FF2B5EF4-FFF2-40B4-BE49-F238E27FC236}">
                <a16:creationId xmlns:a16="http://schemas.microsoft.com/office/drawing/2014/main" id="{629AB851-A5DD-45AE-AA88-E8AB6DCA88BF}"/>
              </a:ext>
            </a:extLst>
          </p:cNvPr>
          <p:cNvSpPr/>
          <p:nvPr/>
        </p:nvSpPr>
        <p:spPr>
          <a:xfrm>
            <a:off x="3925122" y="1894978"/>
            <a:ext cx="253219" cy="255261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: багетная рамка 26">
            <a:extLst>
              <a:ext uri="{FF2B5EF4-FFF2-40B4-BE49-F238E27FC236}">
                <a16:creationId xmlns:a16="http://schemas.microsoft.com/office/drawing/2014/main" id="{B7B62878-38A7-4A5C-9E20-71956A90ECA5}"/>
              </a:ext>
            </a:extLst>
          </p:cNvPr>
          <p:cNvSpPr/>
          <p:nvPr/>
        </p:nvSpPr>
        <p:spPr>
          <a:xfrm>
            <a:off x="3925121" y="2659360"/>
            <a:ext cx="253219" cy="255261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: багетная рамка 27">
            <a:extLst>
              <a:ext uri="{FF2B5EF4-FFF2-40B4-BE49-F238E27FC236}">
                <a16:creationId xmlns:a16="http://schemas.microsoft.com/office/drawing/2014/main" id="{0028EDFC-AB51-47E8-830B-44C1A58CF143}"/>
              </a:ext>
            </a:extLst>
          </p:cNvPr>
          <p:cNvSpPr/>
          <p:nvPr/>
        </p:nvSpPr>
        <p:spPr>
          <a:xfrm>
            <a:off x="3925120" y="3423742"/>
            <a:ext cx="253219" cy="255261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: багетная рамка 28">
            <a:extLst>
              <a:ext uri="{FF2B5EF4-FFF2-40B4-BE49-F238E27FC236}">
                <a16:creationId xmlns:a16="http://schemas.microsoft.com/office/drawing/2014/main" id="{83546521-F05E-442B-A071-3F2F8D79109F}"/>
              </a:ext>
            </a:extLst>
          </p:cNvPr>
          <p:cNvSpPr/>
          <p:nvPr/>
        </p:nvSpPr>
        <p:spPr>
          <a:xfrm>
            <a:off x="3925119" y="4188124"/>
            <a:ext cx="253219" cy="255261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9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29000" cy="5143946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429000" cy="514394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25119" y="389855"/>
            <a:ext cx="4722763" cy="747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Пошаговая регистрация на «Госуслугах»</a:t>
            </a:r>
            <a:endParaRPr lang="en-US" sz="2350" dirty="0"/>
          </a:p>
        </p:txBody>
      </p:sp>
      <p:sp>
        <p:nvSpPr>
          <p:cNvPr id="6" name="Text 2"/>
          <p:cNvSpPr/>
          <p:nvPr/>
        </p:nvSpPr>
        <p:spPr>
          <a:xfrm>
            <a:off x="3925119" y="1288777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3925119" y="1477714"/>
            <a:ext cx="4722763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8" name="Text 4"/>
          <p:cNvSpPr/>
          <p:nvPr/>
        </p:nvSpPr>
        <p:spPr>
          <a:xfrm>
            <a:off x="3925119" y="1566044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Шаг 1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3925119" y="1813396"/>
            <a:ext cx="47227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Скачать приложение «Госуслуги» или зайти на официальный сайт.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925119" y="2180332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925119" y="2369269"/>
            <a:ext cx="4722763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2" name="Text 8"/>
          <p:cNvSpPr/>
          <p:nvPr/>
        </p:nvSpPr>
        <p:spPr>
          <a:xfrm>
            <a:off x="3925119" y="2457599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Шаг 2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925119" y="2704951"/>
            <a:ext cx="47227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Ввести ФИО, номер телефона и адрес электронной почты.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925119" y="3260824"/>
            <a:ext cx="4722763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6" name="Text 12"/>
          <p:cNvSpPr/>
          <p:nvPr/>
        </p:nvSpPr>
        <p:spPr>
          <a:xfrm>
            <a:off x="3925119" y="3349154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Шаг 3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925119" y="3596506"/>
            <a:ext cx="47227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Придумать надежный пароль (буквы, цифры, спецсимволы).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925119" y="4152379"/>
            <a:ext cx="4722763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0" name="Text 16"/>
          <p:cNvSpPr/>
          <p:nvPr/>
        </p:nvSpPr>
        <p:spPr>
          <a:xfrm>
            <a:off x="3925119" y="4240709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Шаг 4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3925119" y="4488061"/>
            <a:ext cx="47227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Подтвердить личность через МФЦ или онлайн-банк.</a:t>
            </a:r>
            <a:endParaRPr lang="en-US" sz="900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1D8EF745-E628-47E1-B07F-F3446940383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4044" r="23228"/>
          <a:stretch/>
        </p:blipFill>
        <p:spPr>
          <a:xfrm>
            <a:off x="1" y="-20724"/>
            <a:ext cx="3623224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5397023" y="494779"/>
            <a:ext cx="3255546" cy="1384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Электронная почта: основа цифрового общения</a:t>
            </a:r>
            <a:endParaRPr lang="en-US" sz="2150" dirty="0"/>
          </a:p>
        </p:txBody>
      </p:sp>
      <p:sp>
        <p:nvSpPr>
          <p:cNvPr id="6" name="Shape 3"/>
          <p:cNvSpPr/>
          <p:nvPr/>
        </p:nvSpPr>
        <p:spPr>
          <a:xfrm>
            <a:off x="5304541" y="2029903"/>
            <a:ext cx="67317" cy="55364"/>
          </a:xfrm>
          <a:prstGeom prst="roundRect">
            <a:avLst>
              <a:gd name="adj" fmla="val 516130"/>
            </a:avLst>
          </a:prstGeom>
          <a:solidFill>
            <a:srgbClr val="4950BC"/>
          </a:solidFill>
          <a:ln/>
        </p:spPr>
      </p:sp>
      <p:sp>
        <p:nvSpPr>
          <p:cNvPr id="7" name="Text 4"/>
          <p:cNvSpPr/>
          <p:nvPr/>
        </p:nvSpPr>
        <p:spPr>
          <a:xfrm>
            <a:off x="5569478" y="1981647"/>
            <a:ext cx="168328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Зачем нужна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569478" y="2235994"/>
            <a:ext cx="3083092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Отправка сканов документов, резюме, общение с госорганами.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304541" y="2777913"/>
            <a:ext cx="67317" cy="55364"/>
          </a:xfrm>
          <a:prstGeom prst="roundRect">
            <a:avLst>
              <a:gd name="adj" fmla="val 516130"/>
            </a:avLst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5569478" y="2730022"/>
            <a:ext cx="168328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Сервисы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569478" y="2984004"/>
            <a:ext cx="308309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Mail.ru, Яндекс Почта, Gmail.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04541" y="3368166"/>
            <a:ext cx="67317" cy="55364"/>
          </a:xfrm>
          <a:prstGeom prst="roundRect">
            <a:avLst>
              <a:gd name="adj" fmla="val 516130"/>
            </a:avLst>
          </a:prstGeom>
          <a:solidFill>
            <a:srgbClr val="4950BC"/>
          </a:solidFill>
          <a:ln/>
        </p:spPr>
      </p:sp>
      <p:sp>
        <p:nvSpPr>
          <p:cNvPr id="13" name="Text 10"/>
          <p:cNvSpPr/>
          <p:nvPr/>
        </p:nvSpPr>
        <p:spPr>
          <a:xfrm>
            <a:off x="5569478" y="3315656"/>
            <a:ext cx="168328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Этикет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569478" y="3574256"/>
            <a:ext cx="3083092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Четкая тема, вежливое обращение, подпись с контактами.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304541" y="4116176"/>
            <a:ext cx="67317" cy="55364"/>
          </a:xfrm>
          <a:prstGeom prst="roundRect">
            <a:avLst>
              <a:gd name="adj" fmla="val 516130"/>
            </a:avLst>
          </a:prstGeom>
          <a:solidFill>
            <a:srgbClr val="4950BC"/>
          </a:solidFill>
          <a:ln/>
        </p:spPr>
      </p:sp>
      <p:sp>
        <p:nvSpPr>
          <p:cNvPr id="16" name="Text 13"/>
          <p:cNvSpPr/>
          <p:nvPr/>
        </p:nvSpPr>
        <p:spPr>
          <a:xfrm>
            <a:off x="5569478" y="4029669"/>
            <a:ext cx="168328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Вложение файлов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569478" y="4322266"/>
            <a:ext cx="3083092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Использовать иконку «скрепки» при создании письма.</a:t>
            </a:r>
            <a:endParaRPr lang="en-US" sz="1000" dirty="0"/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41D044E1-3E64-431A-BB75-832B71415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889" y="0"/>
            <a:ext cx="2941977" cy="2432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icture background">
            <a:extLst>
              <a:ext uri="{FF2B5EF4-FFF2-40B4-BE49-F238E27FC236}">
                <a16:creationId xmlns:a16="http://schemas.microsoft.com/office/drawing/2014/main" id="{5B2BAC96-ACE4-44AD-BDEB-5857528BE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32" y="2332027"/>
            <a:ext cx="4302284" cy="2472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5989216" y="551259"/>
            <a:ext cx="2663354" cy="747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Мессенджеры в работе и жизни</a:t>
            </a:r>
            <a:endParaRPr lang="en-US" sz="2350" dirty="0"/>
          </a:p>
        </p:txBody>
      </p:sp>
      <p:sp>
        <p:nvSpPr>
          <p:cNvPr id="6" name="Shape 3"/>
          <p:cNvSpPr/>
          <p:nvPr/>
        </p:nvSpPr>
        <p:spPr>
          <a:xfrm>
            <a:off x="6004173" y="1413867"/>
            <a:ext cx="269007" cy="295870"/>
          </a:xfrm>
          <a:prstGeom prst="roundRect">
            <a:avLst>
              <a:gd name="adj" fmla="val 12747"/>
            </a:avLst>
          </a:prstGeom>
          <a:solidFill>
            <a:srgbClr val="DFDFE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3928" y="1497509"/>
            <a:ext cx="149498" cy="1195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14343" y="1412304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Быстрая связь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414343" y="1700064"/>
            <a:ext cx="2238226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VK </a:t>
            </a:r>
            <a:r>
              <a:rPr lang="en-US" sz="9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Мессенджер</a:t>
            </a: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MAX,</a:t>
            </a:r>
            <a:r>
              <a:rPr lang="ru-RU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Одноклассники</a:t>
            </a: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для оперативного общения.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004173" y="2256160"/>
            <a:ext cx="269007" cy="295870"/>
          </a:xfrm>
          <a:prstGeom prst="roundRect">
            <a:avLst>
              <a:gd name="adj" fmla="val 12747"/>
            </a:avLst>
          </a:prstGeom>
          <a:solidFill>
            <a:srgbClr val="DFDFE0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3928" y="2339801"/>
            <a:ext cx="149498" cy="11958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14343" y="2254597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Рабочие чаты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6414343" y="2542356"/>
            <a:ext cx="2238226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Создание групп для решения производственных задач.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6004173" y="3098453"/>
            <a:ext cx="269007" cy="295870"/>
          </a:xfrm>
          <a:prstGeom prst="roundRect">
            <a:avLst>
              <a:gd name="adj" fmla="val 12747"/>
            </a:avLst>
          </a:prstGeom>
          <a:solidFill>
            <a:srgbClr val="DFDFE0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3928" y="3182094"/>
            <a:ext cx="149498" cy="11958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14343" y="3096890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Безопасность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6414343" y="3384649"/>
            <a:ext cx="2238226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пересылать конфиденциальные данные завода в личные чаты.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6004173" y="3940746"/>
            <a:ext cx="269007" cy="295870"/>
          </a:xfrm>
          <a:prstGeom prst="roundRect">
            <a:avLst>
              <a:gd name="adj" fmla="val 12747"/>
            </a:avLst>
          </a:prstGeom>
          <a:solidFill>
            <a:srgbClr val="DFDFE0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3928" y="4024387"/>
            <a:ext cx="149498" cy="11958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414343" y="3939183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Приватность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6414343" y="4226942"/>
            <a:ext cx="2238226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Контроль, кто видит фото и номер телефона.</a:t>
            </a:r>
            <a:endParaRPr lang="en-US" sz="900" dirty="0"/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D268F225-1A47-4965-AEC0-3E98927D13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84" r="27957"/>
          <a:stretch/>
        </p:blipFill>
        <p:spPr bwMode="auto">
          <a:xfrm rot="19212411">
            <a:off x="365745" y="327103"/>
            <a:ext cx="1652252" cy="1740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icture background">
            <a:extLst>
              <a:ext uri="{FF2B5EF4-FFF2-40B4-BE49-F238E27FC236}">
                <a16:creationId xmlns:a16="http://schemas.microsoft.com/office/drawing/2014/main" id="{1EE4082E-BEAD-4104-9BF8-6AAE8FF7DD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93" r="24350"/>
          <a:stretch/>
        </p:blipFill>
        <p:spPr bwMode="auto">
          <a:xfrm rot="2986560">
            <a:off x="3284098" y="673237"/>
            <a:ext cx="1789806" cy="1869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Picture background">
            <a:extLst>
              <a:ext uri="{FF2B5EF4-FFF2-40B4-BE49-F238E27FC236}">
                <a16:creationId xmlns:a16="http://schemas.microsoft.com/office/drawing/2014/main" id="{0CD21BCE-70A6-4F21-828F-A08A08B8E5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32" r="24554"/>
          <a:stretch/>
        </p:blipFill>
        <p:spPr bwMode="auto">
          <a:xfrm rot="21271558">
            <a:off x="1891265" y="2746964"/>
            <a:ext cx="1789401" cy="1928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25119" y="89840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Онлайн-банкинг: управление финансами</a:t>
            </a:r>
            <a:endParaRPr lang="en-US" sz="2750" dirty="0"/>
          </a:p>
        </p:txBody>
      </p:sp>
      <p:sp>
        <p:nvSpPr>
          <p:cNvPr id="6" name="Shape 2"/>
          <p:cNvSpPr/>
          <p:nvPr/>
        </p:nvSpPr>
        <p:spPr>
          <a:xfrm>
            <a:off x="3925119" y="1996976"/>
            <a:ext cx="2290465" cy="1279996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071640" y="2143497"/>
            <a:ext cx="18133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Просмотр зарплаты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071640" y="2450009"/>
            <a:ext cx="19974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начислений и скачивание справок о доходах.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357342" y="1996976"/>
            <a:ext cx="2290539" cy="1279996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03863" y="2143497"/>
            <a:ext cx="178489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Оплаты и переводы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503863" y="2450009"/>
            <a:ext cx="199749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Оплата ЖКХ, мобильной связи и переводы без очередей.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925119" y="3418731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071640" y="35652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Автоплатежи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071640" y="3871764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Настройка шаблонов и автоплатежей для экономии времени.</a:t>
            </a:r>
            <a:endParaRPr lang="en-US" sz="1100" dirty="0"/>
          </a:p>
        </p:txBody>
      </p:sp>
      <p:pic>
        <p:nvPicPr>
          <p:cNvPr id="6148" name="Picture 4" descr="Picture background">
            <a:extLst>
              <a:ext uri="{FF2B5EF4-FFF2-40B4-BE49-F238E27FC236}">
                <a16:creationId xmlns:a16="http://schemas.microsoft.com/office/drawing/2014/main" id="{8E6BAF40-04FE-4E15-A214-3F4B0F7B3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86250" y="-10155"/>
            <a:ext cx="771525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2921" y="3369979"/>
            <a:ext cx="8049962" cy="803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Кибербезопасность: 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надежные пароли (≥8 символов), распознавание фишинга, правило «Стоп» — не сообщать коды из СМС, включение 2FA везде, где возможно.</a:t>
            </a:r>
            <a:endParaRPr lang="en-US" sz="1100" dirty="0"/>
          </a:p>
        </p:txBody>
      </p:sp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C6D0A892-2829-4071-A3DB-D8EA8EB7B0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16"/>
          <a:stretch/>
        </p:blipFill>
        <p:spPr bwMode="auto">
          <a:xfrm>
            <a:off x="1876926" y="-129803"/>
            <a:ext cx="5223472" cy="3427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862882"/>
            <a:ext cx="2551807" cy="1417662"/>
          </a:xfrm>
          <a:prstGeom prst="roundRect">
            <a:avLst>
              <a:gd name="adj" fmla="val 4200"/>
            </a:avLst>
          </a:prstGeom>
          <a:solidFill>
            <a:srgbClr val="DFDF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510" y="2436242"/>
            <a:ext cx="142875" cy="1428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5783" y="2642220"/>
            <a:ext cx="2212404" cy="106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500" dirty="0">
                <a:solidFill>
                  <a:srgbClr val="AEA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 создании этого изображения произошла ошибка</a:t>
            </a:r>
            <a:endParaRPr lang="en-US" sz="500" dirty="0"/>
          </a:p>
        </p:txBody>
      </p:sp>
      <p:sp>
        <p:nvSpPr>
          <p:cNvPr id="5" name="Text 2"/>
          <p:cNvSpPr/>
          <p:nvPr/>
        </p:nvSpPr>
        <p:spPr>
          <a:xfrm>
            <a:off x="5293895" y="565993"/>
            <a:ext cx="3358674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Цифровая гигиена: полезные привычки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5293895" y="2479700"/>
            <a:ext cx="3358674" cy="2190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Регулярное обновление приложений и антивируса.</a:t>
            </a:r>
            <a:endParaRPr lang="en-US" sz="12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Очистка почты от спама и ненужных рассылок.</a:t>
            </a:r>
            <a:endParaRPr lang="en-US" sz="12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Использование облачных хранилищ для важных документов.</a:t>
            </a:r>
            <a:endParaRPr lang="en-US" sz="12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Цифровой детокс — отдых от экранов для здоровья.</a:t>
            </a:r>
            <a:endParaRPr lang="en-US" sz="1200" dirty="0"/>
          </a:p>
        </p:txBody>
      </p:sp>
      <p:pic>
        <p:nvPicPr>
          <p:cNvPr id="8194" name="Picture 2" descr="Picture background">
            <a:extLst>
              <a:ext uri="{FF2B5EF4-FFF2-40B4-BE49-F238E27FC236}">
                <a16:creationId xmlns:a16="http://schemas.microsoft.com/office/drawing/2014/main" id="{A29DED3E-16C0-4918-AADD-ABA7DF26D6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85" r="23816"/>
          <a:stretch/>
        </p:blipFill>
        <p:spPr bwMode="auto">
          <a:xfrm>
            <a:off x="0" y="-37"/>
            <a:ext cx="418699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DFDFE0"/>
          </a:solidFill>
          <a:ln/>
        </p:spPr>
      </p:sp>
      <p:sp>
        <p:nvSpPr>
          <p:cNvPr id="5" name="Text 1"/>
          <p:cNvSpPr/>
          <p:nvPr/>
        </p:nvSpPr>
        <p:spPr>
          <a:xfrm>
            <a:off x="3925119" y="571723"/>
            <a:ext cx="447265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Спасибо за внимание!</a:t>
            </a:r>
            <a:endParaRPr lang="en-US" sz="27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1227311"/>
            <a:ext cx="2290465" cy="194153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085927" y="179427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Ключевая мысль</a:t>
            </a: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4085927" y="2100783"/>
            <a:ext cx="196884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Цифровая грамотность — ключ к комфорту и безопасности в современном мире.</a:t>
            </a:r>
            <a:endParaRPr lang="en-US" sz="1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7342" y="1227311"/>
            <a:ext cx="2290539" cy="194153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518151" y="179427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Призыв</a:t>
            </a:r>
            <a:endParaRPr lang="en-US" sz="1350" dirty="0"/>
          </a:p>
        </p:txBody>
      </p:sp>
      <p:sp>
        <p:nvSpPr>
          <p:cNvPr id="11" name="Text 5"/>
          <p:cNvSpPr/>
          <p:nvPr/>
        </p:nvSpPr>
        <p:spPr>
          <a:xfrm>
            <a:off x="6518151" y="2100783"/>
            <a:ext cx="19689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бойтесь задавать вопросы и осваивать новые сервисы.</a:t>
            </a:r>
            <a:endParaRPr lang="en-US" sz="11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68763" y="3310682"/>
            <a:ext cx="2290539" cy="126109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379548" y="380176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Контакты</a:t>
            </a:r>
            <a:endParaRPr lang="en-US" sz="1350" dirty="0"/>
          </a:p>
        </p:txBody>
      </p:sp>
      <p:sp>
        <p:nvSpPr>
          <p:cNvPr id="17" name="Text 9"/>
          <p:cNvSpPr/>
          <p:nvPr/>
        </p:nvSpPr>
        <p:spPr>
          <a:xfrm>
            <a:off x="5379548" y="4108272"/>
            <a:ext cx="1968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obuchgramcifr@mail.ru</a:t>
            </a:r>
            <a:endParaRPr lang="en-US" sz="1100" dirty="0"/>
          </a:p>
        </p:txBody>
      </p:sp>
      <p:pic>
        <p:nvPicPr>
          <p:cNvPr id="9218" name="Picture 2" descr="Picture background">
            <a:extLst>
              <a:ext uri="{FF2B5EF4-FFF2-40B4-BE49-F238E27FC236}">
                <a16:creationId xmlns:a16="http://schemas.microsoft.com/office/drawing/2014/main" id="{7A3F657B-B9A6-4BE6-9E24-C9FB6EA103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894"/>
          <a:stretch/>
        </p:blipFill>
        <p:spPr bwMode="auto">
          <a:xfrm>
            <a:off x="-2674248" y="0"/>
            <a:ext cx="6103248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</TotalTime>
  <Words>443</Words>
  <Application>Microsoft Office PowerPoint</Application>
  <PresentationFormat>Экран (16:9)</PresentationFormat>
  <Paragraphs>79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Calibri</vt:lpstr>
      <vt:lpstr>Calibri Light</vt:lpstr>
      <vt:lpstr>Inter</vt:lpstr>
      <vt:lpstr>Arial</vt:lpstr>
      <vt:lpstr>Inter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User PC</cp:lastModifiedBy>
  <cp:revision>17</cp:revision>
  <dcterms:created xsi:type="dcterms:W3CDTF">2026-06-26T07:53:11Z</dcterms:created>
  <dcterms:modified xsi:type="dcterms:W3CDTF">2026-06-26T10:34:07Z</dcterms:modified>
</cp:coreProperties>
</file>